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presProps" Target="presProps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9"/>
                <c:pt idx="0">
                  <c:v>src_bytes</c:v>
                </c:pt>
                <c:pt idx="1">
                  <c:v>failed_logins</c:v>
                </c:pt>
                <c:pt idx="2">
                  <c:v>packet_count</c:v>
                </c:pt>
                <c:pt idx="3">
                  <c:v>num_unique_ports</c:v>
                </c:pt>
                <c:pt idx="4">
                  <c:v>dst_bytes</c:v>
                </c:pt>
                <c:pt idx="5">
                  <c:v>duration</c:v>
                </c:pt>
                <c:pt idx="6">
                  <c:v>bytes_per_packet</c:v>
                </c:pt>
                <c:pt idx="7">
                  <c:v>syn_rate</c:v>
                </c:pt>
                <c:pt idx="8">
                  <c:v>protocol_type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0.28</c:v>
                </c:pt>
                <c:pt idx="1">
                  <c:v>0.16</c:v>
                </c:pt>
                <c:pt idx="2">
                  <c:v>0.14</c:v>
                </c:pt>
                <c:pt idx="3">
                  <c:v>0.11</c:v>
                </c:pt>
                <c:pt idx="4">
                  <c:v>0.09</c:v>
                </c:pt>
                <c:pt idx="5">
                  <c:v>0.04</c:v>
                </c:pt>
                <c:pt idx="6">
                  <c:v>0.03</c:v>
                </c:pt>
                <c:pt idx="7">
                  <c:v>0.01</c:v>
                </c:pt>
                <c:pt idx="8">
                  <c:v>0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noFill/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52500" y="1428750"/>
            <a:ext cx="1028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300">
                <a:solidFill>
                  <a:srgbClr val="3D7BD9"/>
                </a:solidFill>
                <a:latin typeface="Microsoft YaHei"/>
                <a:ea typeface="Microsoft YaHei"/>
              </a:rPr>
              <a:t>考研复试</a:t>
            </a:r>
            <a:r>
              <a:rPr lang="en-US" sz="1350" spc="300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300">
                <a:solidFill>
                  <a:srgbClr val="3D7BD9"/>
                </a:solidFill>
                <a:latin typeface="Microsoft YaHei"/>
                <a:ea typeface="Microsoft YaHei"/>
              </a:rPr>
              <a:t>项目答辩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52500" y="1866900"/>
            <a:ext cx="10287000" cy="1552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基于双引擎融合的</a:t>
            </a:r>
            <a:endParaRPr/>
          </a:p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网络入侵检测系统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52500" y="3609975"/>
            <a:ext cx="1028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i="1">
                <a:solidFill>
                  <a:srgbClr val="8B97A8"/>
                </a:solidFill>
                <a:latin typeface="Times New Roman"/>
                <a:ea typeface="Times New Roman"/>
              </a:rPr>
              <a:t>A Network Intrusion Detection System Based on Dual-Engine Fusion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52500" y="4267200"/>
            <a:ext cx="1419225" cy="3048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5850" y="4333875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规则引擎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可解释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2486025" y="4267200"/>
            <a:ext cx="1847850" cy="3048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619375" y="4333875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机器学习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发现未知攻击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4448175" y="4267200"/>
            <a:ext cx="1266825" cy="3048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581525" y="43338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实时可视化监控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0" y="6067425"/>
            <a:ext cx="12192000" cy="790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0" y="6057900"/>
            <a:ext cx="12192000" cy="800100"/>
          </a:xfrm>
          <a:custGeom>
            <a:pathLst>
              <a:path w="1280" h="8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886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汇报人：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XXX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　专业方向：网络空间安全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344150" y="6372225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0" name="" descr="&lt;Slide style={{ background: '#FFFFFF', padding: 0, flexDirection: 'row' }}&gt;&#10;  &lt;Box style={{ width: 380, height: '100%', background: '#0E3F8C', flexDirection: 'column', justifyContent: 'center', paddingLeft: 48, paddingRight: 40 }}&gt;&#10;    &lt;Text style={{ fontSize: 22, color: '#9CC0F0', letterSpacing: 6 }}&gt;CONTENTS&lt;/Text&gt;&#10;    &lt;Text style={{ fontSize: 48, fontWeight: 'bold', color: '#FFFFFF', marginTop: 8, marginBottom: 20 }}&gt;目录&lt;/Text&gt;&#10;    &lt;Box style={{ width: 60, height: 4, background: '#3D7BD9', borderRadius: 2 }} /&gt;&#10;    &lt;Text style={{ fontSize: 15, color: '#BBD0EF', lineHeight: 1.8, marginTop: 24 }}&gt;&#10;      基于双引擎融合的&lt;br /&gt;网络入侵检测系统&#10;    &lt;/Text&gt;&#10;  &lt;/Box&gt;&#10;  &lt;Box style={{ flex: 1, height: '100%', flexDirection: 'column', justifyContent: 'center', paddingLeft: 64, paddingRight: 64, gap: 22 }}&gt;&#10;    {[&#10;      ['01', '研究背景与动机', '网络空间威胁态势与入侵检测的核心价值'],&#10;      ['02', '系统设计', '双引擎融合架构、融合策略与特征工程'],&#10;      ['03', '实验与评估', '数据集、评估指标与混淆矩阵误差分析'],&#10;      ['04', '总结与展望', '主要结论、当前不足与改进方向'],&#10;    ].map((item, idx) =&gt; (&#10;      &lt;Box key={idx} style={{ flexDirection: 'row', alignItems: 'center', gap: 24 }}&gt;&#10;        &lt;Text style={{ fontSize: 40, fontWeight: 'bold', color: '#1E4FA8', width: 70 }}&gt;{item[0]}&lt;/Text&gt;&#10;        &lt;Box style={{ width: 1, height: 50, background: '#D6DCE5' }} /&gt;&#10;        &lt;Box style={{ flex: 1 }}&gt;&#10;          &lt;Text style={{ fontSize: 24, fontWeight: 'bold', color: '#1A2230' }}&gt;{item[1]}&lt;/Text&gt;&#10;          &lt;Text style={{ fontSize: 15, color: '#8B97A8', marginTop: 4 }}&gt;{item[2]}&lt;/Text&gt;&#10;        &lt;/Box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57200" y="2447925"/>
            <a:ext cx="2781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9CC0F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57200" y="2781300"/>
            <a:ext cx="27813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57200" y="35242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57200" y="3790950"/>
            <a:ext cx="2781300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BBD0EF"/>
                </a:solidFill>
                <a:latin typeface="Microsoft YaHei"/>
                <a:ea typeface="Microsoft YaHei"/>
              </a:rPr>
              <a:t>基于双引擎融合的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BBD0EF"/>
                </a:solidFill>
                <a:latin typeface="Microsoft YaHei"/>
                <a:ea typeface="Microsoft YaHei"/>
              </a:rPr>
              <a:t>网络入侵检测系统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229100" y="2162175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124450" y="2152650"/>
            <a:ext cx="9525" cy="476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62575" y="2143125"/>
            <a:ext cx="6219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研究背景与动机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62575" y="2457450"/>
            <a:ext cx="6219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网络空间威胁态势与入侵检测的核心价值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229100" y="285750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124450" y="2847975"/>
            <a:ext cx="9525" cy="476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362575" y="2838450"/>
            <a:ext cx="6219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362575" y="3152775"/>
            <a:ext cx="6219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双引擎融合架构、融合策略与特征工程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229100" y="3552825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5124450" y="3543300"/>
            <a:ext cx="9525" cy="476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362575" y="3533775"/>
            <a:ext cx="6219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实验与评估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362575" y="3848100"/>
            <a:ext cx="6219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数据集、评估指标与混淆矩阵误差分析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229100" y="424815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124450" y="4238625"/>
            <a:ext cx="9525" cy="476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362575" y="4229100"/>
            <a:ext cx="6219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362575" y="4543425"/>
            <a:ext cx="6219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主要结论、当前不足与改进方向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style={{ background: '#F7F9FC', padding: 0, flexDirection: 'row' }}&gt;&#10;  &lt;Box style={{ width: 420, height: '100%', background: '#0E3F8C', flexDirection: 'column', justifyContent: 'center', alignItems: 'center' }}&gt;&#10;    &lt;Text style={{ fontSize: 220, fontWeight: 'bold', color: '#FFFFFF', lineHeight: 1 }}&gt;01&lt;/Text&gt;&#10;  &lt;/Box&gt;&#10;  &lt;Box style={{ flex: 1, height: '100%', flexDirection: 'column', justifyContent: 'center', paddingLeft: 72, paddingRight: 60 }}&gt;&#10;    &lt;Text style={{ fontSize: 20, color: '#3D7BD9', letterSpacing: 4, marginBottom: 14 }}&gt;CHAPTER 01&lt;/Text&gt;&#10;    &lt;Text style={{ fontSize: 46, fontWeight: 'bold', color: '#1A2230', marginBottom: 36 }}&gt;研究背景与动机&lt;/Text&gt;&#10;    &lt;Box style={{ gap: 18 }}&gt;&#10;      &lt;Box style={{ flexDirection: 'row', alignItems: 'center', gap: 16 }}&gt;&#10;        &lt;Box style={{ width: 10, height: 10, background: '#1E4FA8', borderRadius: 2 }} /&gt;&#10;        &lt;Text style={{ fontSize: 20, color: '#4A5568' }}&gt;网络空间威胁态势：攻击形态日益复杂化、自动化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入侵检测范式：规则与机器学习的互补关系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问题定义：为何需要双引擎融合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0485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686300" y="2295525"/>
            <a:ext cx="693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686300" y="2657475"/>
            <a:ext cx="6934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1A2230"/>
                </a:solidFill>
                <a:latin typeface="Microsoft YaHei"/>
                <a:ea typeface="Microsoft YaHei"/>
              </a:rPr>
              <a:t>研究背景与动机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686300" y="36004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933950" y="3533775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网络空间威胁态势：攻击形态日益复杂化、自动化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686300" y="40005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933950" y="393382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入侵检测范式：规则与机器学习的互补关系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686300" y="44005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933950" y="4333875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问题定义：为何需要双引擎融合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05" name="" descr="&lt;Slide style={{ background: '#FFFFFF', padding: 0, flexDirection: 'column' }}&gt;&#10;  &lt;Box style={{ width: '100%', height: 72, background: '#1E4FA8', flexDirection: 'row', alignItems: 'center', justifyContent: 'space-between', paddingLeft: 40, paddingRight: 40 }}&gt;&#10;    &lt;Text style={{ fontSize: 24, fontWeight: 'bold', color: '#FFFFFF' }}&gt;研究背景与问题定义&lt;/Text&gt;&#10;    &lt;Text style={{ fontSize: 14, color: '#BBD0EF' }}&gt;01 · 研究背景与动机&lt;/Text&gt;&#10;  &lt;/Box&gt;&#10;  &lt;Box style={{ flex: 1, flexDirection: 'row', padding: 36, gap: 32 }}&gt;&#10;    &lt;Box style={{ width: '58%', flexDirection: 'column', gap: 18 }}&gt;&#10;      &lt;Box style={{ background: '#F7F9FC', borderRadius: 8, padding: 22, borderLeft: '4px solid #1E4FA8' }}&gt;&#10;        &lt;Text style={{ fontSize: 22, fontWeight: 'bold', color: '#1E4FA8', marginBottom: 8 }}&gt;威胁态势&lt;/Text&gt;&#10;        &lt;Text style={{ fontSize: 17, color: '#4A5568', lineHeight: 1.7 }}&gt;&#10;          企业内网面临拒绝服务、端口扫描、暴力破解、数据外泄等多类攻击。攻击者手段日趋自动化，单点防护难以覆盖全部形态。&#10;        &lt;/Text&gt;&#10;      &lt;/Box&gt;&#10;      &lt;Box style={{ background: '#F7F9FC', borderRadius: 8, padding: 22, borderLeft: '4px solid #3D7BD9' }}&gt;&#10;        &lt;Text style={{ fontSize: 22, fontWeight: 'bold', color: '#3D7BD9', marginBottom: 8 }}&gt;检测范式&lt;/Text&gt;&#10;        &lt;Text style={{ fontSize: 17, color: '#4A5568', lineHeight: 1.7 }}&gt;&#10;          规则引擎对已知模式可解释、零延迟；机器学习擅长从数据中识别未知攻击。二者互补，而非互斥。&#10;        &lt;/Text&gt;&#10;      &lt;/Box&gt;&#10;      &lt;Box style={{ background: '#E8EFF8', borderRadius: 8, padding: 22, borderLeft: '4px solid #0E3F8C' }}&gt;&#10;        &lt;Text style={{ fontSize: 22, fontWeight: 'bold', color: '#0E3F8C', marginBottom: 8 }}&gt;核心问题&lt;/Text&gt;&#10;        &lt;Text style={{ fontSize: 17, color: '#1A2230', lineHeight: 1.7 }}&gt;&#10;          如何用一套系统同时兼顾&lt;span style={{ fontWeight: 'bold' }}&gt;&quot;已知攻击可解释&quot;&lt;/span&gt;与&lt;span style={{ fontWeight: 'bold' }}&gt;&quot;未知攻击可发现&quot;&lt;/span&gt;？这构成本项目双引擎融合的设计动机。&#10;        &lt;/Text&gt;&#10;      &lt;/Box&gt;&#10;    &lt;/Box&gt;&#10;    &lt;Box style={{ flex: 1, flexDirection: 'column' }}&gt;&#10;      &lt;Text style={{ fontSize: 18, fontWeight: 'bold', color: '#1A2230', marginBottom: 12 }}&gt;四类典型攻击特征&lt;/Text&gt;&#10;      &lt;Table&#10;        style={{ width: '100%', height: 460 }}&#10;        defaultTextStyle={{ fontSize: 14, textAlign: 'left', color: '#1A2230' }}&#10;        defaultCellStyle={{ border: { left: { width: 1, color: '#D6DCE5' }, right: { width: 1, color: '#D6DCE5' }, top: { width: 1, color: '#D6DCE5' }, bottom: { width: 1, color: '#D6DCE5' } }, padding: 10 }}&#10;        cells={[&#10;          [{ text: '攻击类型', textStyle: { bold: true, color: '#fff' }, cellStyle: { background: { color: '#1E4FA8' } } }, { text: '核心特征', textStyle: { bold: true, color: '#fff' }, cellStyle: { background: { color: '#1E4FA8' } } }],&#10;          ['拒绝服务 (DoS)', '海量小包、SYN 占比极高、几乎无响应'],&#10;          [{ text: '端口扫描', cellStyle: { background: { color: '#F7F9FC' } } }, { text: '单源访问大量不同端口、连接极短', cellStyle: { background: { color: '#F7F9FC' } } }],&#10;          ['暴力破解', '单连接内失败登录次数异常高'],&#10;          [{ text: '数据外泄', cellStyle: { background: { color: '#F7F9FC' } } }, { text: '上行字节远大于下行、持续时间长', cellStyle: { background: { color: '#F7F9FC' } } }],&#10;        ]}&#10;      /&gt;&#10;    &lt;/Box&gt;&#10;  &lt;/Box&gt;&#10;  &lt;Box style={{ width: '100%', height: 40, borderTop: '1px solid #D6DCE5', flexDirection: 'row', alignItems: 'center', justifyContent: 'flex-end', paddingRight: 40 }}&gt;&#10;    &lt;Text style={{ fontSize: 14, color: '#8B97A8' }}&gt;04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05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研究背景与问题定义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601325" y="26670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BD0EF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>
                <a:solidFill>
                  <a:srgbClr val="BBD0EF"/>
                </a:solidFill>
                <a:latin typeface="Microsoft YaHei"/>
                <a:ea typeface="Microsoft YaHei"/>
              </a:rPr>
              <a:t>研究背景与动机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81000" y="1028700"/>
            <a:ext cx="6677025" cy="1419225"/>
          </a:xfrm>
          <a:prstGeom prst="roundRect">
            <a:avLst>
              <a:gd name="adj" fmla="val 536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381000" y="1028700"/>
            <a:ext cx="6677025" cy="1419225"/>
          </a:xfrm>
          <a:custGeom>
            <a:pathLst>
              <a:path w="701" h="1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5"/>
                </a:lnTo>
                <a:cubicBezTo>
                  <a:pt x="4" y="147"/>
                  <a:pt x="5" y="149"/>
                  <a:pt x="7" y="149"/>
                </a:cubicBezTo>
                <a:cubicBezTo>
                  <a:pt x="3" y="149"/>
                  <a:pt x="0" y="145"/>
                  <a:pt x="0" y="1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90550" y="1238250"/>
            <a:ext cx="621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威胁态势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90550" y="1571625"/>
            <a:ext cx="62198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企业内网面临拒绝服务、端口扫描、暴力破解、数据外泄等多类攻击。攻击者手段日趋自动化，单点防护难以覆盖全部形态。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81000" y="2619375"/>
            <a:ext cx="6677025" cy="1419225"/>
          </a:xfrm>
          <a:prstGeom prst="roundRect">
            <a:avLst>
              <a:gd name="adj" fmla="val 536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381000" y="2619375"/>
            <a:ext cx="6677025" cy="1419225"/>
          </a:xfrm>
          <a:custGeom>
            <a:pathLst>
              <a:path w="701" h="1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5"/>
                </a:lnTo>
                <a:cubicBezTo>
                  <a:pt x="4" y="147"/>
                  <a:pt x="5" y="149"/>
                  <a:pt x="7" y="149"/>
                </a:cubicBezTo>
                <a:cubicBezTo>
                  <a:pt x="3" y="149"/>
                  <a:pt x="0" y="145"/>
                  <a:pt x="0" y="1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90550" y="2828925"/>
            <a:ext cx="621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D7BD9"/>
                </a:solidFill>
                <a:latin typeface="Microsoft YaHei"/>
                <a:ea typeface="Microsoft YaHei"/>
              </a:rPr>
              <a:t>检测范式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90550" y="3162300"/>
            <a:ext cx="62198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规则引擎对已知模式可解释、零延迟；机器学习擅长从数据中识别未知攻击。二者互补，而非互斥。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81000" y="4210050"/>
            <a:ext cx="6677025" cy="1419225"/>
          </a:xfrm>
          <a:prstGeom prst="roundRect">
            <a:avLst>
              <a:gd name="adj" fmla="val 53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381000" y="4210050"/>
            <a:ext cx="6677025" cy="1419225"/>
          </a:xfrm>
          <a:custGeom>
            <a:pathLst>
              <a:path w="701" h="1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5"/>
                </a:lnTo>
                <a:cubicBezTo>
                  <a:pt x="4" y="147"/>
                  <a:pt x="5" y="149"/>
                  <a:pt x="7" y="149"/>
                </a:cubicBezTo>
                <a:cubicBezTo>
                  <a:pt x="3" y="149"/>
                  <a:pt x="0" y="145"/>
                  <a:pt x="0" y="1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90550" y="4419600"/>
            <a:ext cx="621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核心问题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90550" y="4752975"/>
            <a:ext cx="62198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如何用一套系统同时兼顾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已知攻击可解释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未知攻击可发现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？这构成本项目双引擎融合的设计动机。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324725" y="1028700"/>
            <a:ext cx="4524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四类典型攻击特征</a:t>
            </a:r>
            <a:endParaRPr/>
          </a:p>
        </p:txBody>
      </p:sp>
      <p:graphicFrame>
        <p:nvGraphicFramePr>
          <p:cNvPr id="123" name=""/>
          <p:cNvGraphicFramePr/>
          <p:nvPr/>
        </p:nvGraphicFramePr>
        <p:xfrm rot="0" flipH="0" flipV="0">
          <a:off x="7324725" y="1352550"/>
          <a:ext cx="4524375" cy="4381500"/>
        </p:xfrm>
        <a:graphic>
          <a:graphicData uri="http://schemas.openxmlformats.org/drawingml/2006/table">
            <a:tbl>
              <a:tblGrid>
                <a:gridCol w="1351535">
                  <a:extLst>
                    <a:ext uri="{9D8B030D-6E8A-4147-A177-3AD203B41FA5}">
                      <a16:colId val="1"/>
                    </a:ext>
                  </a:extLst>
                </a:gridCol>
                <a:gridCol w="317284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876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攻击类型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核心特征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76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拒绝服务 (DoS)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海量小包、SYN 占比极高、几乎无响应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76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端口扫描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单源访问大量不同端口、连接极短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76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暴力破解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单连接内失败登录次数异常高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76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数据外泄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上行字节远大于下行、持续时间长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24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 style={{ background: '#F7F9FC', padding: 0, flexDirection: 'row' }}&gt;&#10;  &lt;Box style={{ width: 420, height: '100%', background: '#0E3F8C', flexDirection: 'column', justifyContent: 'center', alignItems: 'center' }}&gt;&#10;    &lt;Text style={{ fontSize: 220, fontWeight: 'bold', color: '#FFFFFF', lineHeight: 1 }}&gt;02&lt;/Text&gt;&#10;  &lt;/Box&gt;&#10;  &lt;Box style={{ flex: 1, height: '100%', flexDirection: 'column', justifyContent: 'center', paddingLeft: 72, paddingRight: 60 }}&gt;&#10;    &lt;Text style={{ fontSize: 20, color: '#3D7BD9', letterSpacing: 4, marginBottom: 14 }}&gt;CHAPTER 02&lt;/Text&gt;&#10;    &lt;Text style={{ fontSize: 46, fontWeight: 'bold', color: '#1A2230', marginBottom: 36 }}&gt;系统设计&lt;/Text&gt;&#10;    &lt;Box style={{ gap: 18 }}&gt;&#10;      &lt;Box style={{ flexDirection: 'row', alignItems: 'center', gap: 16 }}&gt;&#10;        &lt;Box style={{ width: 10, height: 10, background: '#1E4FA8', borderRadius: 2 }} /&gt;&#10;        &lt;Text style={{ fontSize: 20, color: '#4A5568' }}&gt;双引擎融合架构：规则引擎 + 机器学习引擎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融合策略：规则优先、ML 兜底、异常分修正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特征工程：9 维连接级特征与数据集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0485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686300" y="2295525"/>
            <a:ext cx="693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686300" y="2657475"/>
            <a:ext cx="6934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1A2230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686300" y="36004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933950" y="3533775"/>
            <a:ext cx="3686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双引擎融合架构：规则引擎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机器学习引擎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686300" y="40005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933950" y="3933825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融合策略：规则优先、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ML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兜底、异常分修正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686300" y="44005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933950" y="4333875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特征工程：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维连接级特征与数据集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8" name="" descr="&lt;Slide style={{ background: '#FFFFFF', padding: 0, flexDirection: 'column' }}&gt;&#10;  &lt;Box style={{ width: '100%', height: 72, background: '#1E4FA8', flexDirection: 'row', alignItems: 'center', justifyContent: 'space-between', paddingLeft: 40, paddingRight: 40 }}&gt;&#10;    &lt;Text style={{ fontSize: 24, fontWeight: 'bold', color: '#FFFFFF' }}&gt;双引擎融合架构&lt;/Text&gt;&#10;    &lt;Text style={{ fontSize: 14, color: '#BBD0EF' }}&gt;02 · 系统设计&lt;/Text&gt;&#10;  &lt;/Box&gt;&#10;  &lt;Box style={{ flex: 1, flexDirection: 'row', padding: 32, gap: 28, alignItems: 'stretch' }}&gt;&#10;    &lt;Box style={{ width: '32%', flexDirection: 'column', justifyContent: 'center', gap: 18 }}&gt;&#10;      &lt;Text style={{ fontSize: 22, fontWeight: 'bold', color: '#0E3F8C' }}&gt;架构总览&lt;/Text&gt;&#10;      &lt;Text style={{ fontSize: 16, color: '#4A5568', lineHeight: 1.7 }}&gt;&#10;        流量经特征提取后，并行送入&lt;span style={{ color: '#1E4FA8', fontWeight: 'bold' }}&gt;规则引擎&lt;/span&gt;与&lt;span style={{ color: '#1E4FA8', fontWeight: 'bold' }}&gt;机器学习引擎&lt;/span&gt;。&#10;      &lt;/Text&gt;&#10;      &lt;Text style={{ fontSize: 16, color: '#4A5568', lineHeight: 1.7 }}&gt;&#10;        &lt;span style={{ fontWeight: 'bold', color: '#1A2230' }}&gt;融合策略&lt;/span&gt;：规则优先采信、ML 兜底分类、异常分修正可疑连接。&#10;      &lt;/Text&gt;&#10;      &lt;Box style={{ background: '#E8EFF8', borderRadius: 8, padding: 16 }}&gt;&#10;        &lt;Text style={{ fontSize: 15, color: '#0E3F8C', lineHeight: 1.6 }}&gt;&#10;          该混合架构与工业界 Snort / Suricata 的&quot;规则主导 + 统计辅助&quot;思路一致。&#10;        &lt;/Text&gt;&#10;      &lt;/Box&gt;&#10;    &lt;/Box&gt;&#10;    &lt;Box style={{ flex: 1, background: '#F7F9FC', borderRadius: 10, alignItems: 'center', justifyContent: 'center' }}&gt;&#10;      &lt;svg width={600} height={470} viewBox='0 0 640 500'&gt;&#10;        &lt;defs&gt;&#10;          &lt;marker id='ar' viewBox='0 0 10 10' refX='8' refY='5' markerWidth='7' markerHeight='7' orient='auto-start-reverse'&gt;&#10;            &lt;path d='M2 1L8 5L2 9' fill='none' stroke='#8B97A8' strokeWidth='1.5' strokeLinecap='round' strokeLinejoin='round' /&gt;&#10;          &lt;/marker&gt;&#10;        &lt;/defs&gt;&#10;        &lt;rect x='210' y='24' width='220' height='54' rx='8' fill='#FFFFFF' stroke='#1E4FA8' strokeWidth='1.5' /&gt;&#10;        &lt;text x='320' y='56' textAnchor='middle' fontSize='17' fontWeight='bold' fill='#1A2230'&gt;网络流量 · 9 维特征&lt;/text&gt;&#10;        &lt;line x1='290' y1='78' x2='150' y2='140' stroke='#8B97A8' strokeWidth='1.5' markerEnd='url(#ar)' /&gt;&#10;        &lt;line x1='350' y1='78' x2='490' y2='140' stroke='#8B97A8' strokeWidth='1.5' markerEnd='url(#ar)' /&gt;&#10;        &lt;rect x='50' y='150' width='200' height='92' rx='8' fill='#E8EFF8' stroke='#1E4FA8' strokeWidth='1.5' /&gt;&#10;        &lt;text x='150' y='184' textAnchor='middle' fontSize='18' fontWeight='bold' fill='#0E3F8C'&gt;规则引擎&lt;/text&gt;&#10;        &lt;text x='150' y='212' textAnchor='middle' fontSize='14' fill='#4A5568'&gt;5 条白盒规则 · 可解释&lt;/text&gt;&#10;        &lt;rect x='390' y='150' width='200' height='92' rx='8' fill='#E8EFF8' stroke='#1E4FA8' strokeWidth='1.5' /&gt;&#10;        &lt;text x='490' y='184' textAnchor='middle' fontSize='18' fontWeight='bold' fill='#0E3F8C'&gt;机器学习引擎&lt;/text&gt;&#10;        &lt;text x='490' y='210' textAnchor='middle' fontSize='13' fill='#4A5568'&gt;IsolationForest + RandomForest&lt;/text&gt;&#10;        &lt;line x1='150' y1='242' x2='320' y2='312' stroke='#8B97A8' strokeWidth='1.5' markerEnd='url(#ar)' /&gt;&#10;        &lt;line x1='490' y1='242' x2='320' y2='312' stroke='#8B97A8' strokeWidth='1.5' markerEnd='url(#ar)' /&gt;&#10;        &lt;rect x='200' y='320' width='240' height='66' rx='8' fill='#0E3F8C' /&gt;&#10;        &lt;text x='320' y='345' textAnchor='middle' fontSize='17' fontWeight='bold' fill='#FFFFFF'&gt;融合策略&lt;/text&gt;&#10;        &lt;text x='320' y='368' textAnchor='middle' fontSize='13' fill='#BBD0EF'&gt;规则优先 · ML 兜底 · 异常分修正&lt;/text&gt;&#10;        &lt;line x1='320' y1='386' x2='320' y2='424' stroke='#8B97A8' strokeWidth='1.5' markerEnd='url(#ar)' /&gt;&#10;        &lt;rect x='200' y='424' width='240' height='56' rx='8' fill='#FFFFFF' stroke='#3D7BD9' strokeWidth='1.5' /&gt;&#10;        &lt;text x='320' y='457' textAnchor='middle' fontSize='16' fontWeight='bold' fill='#1E4FA8'&gt;告警 · 可视化仪表盘&lt;/text&gt;&#10;      &lt;/svg&gt;&#10;    &lt;/Box&gt;&#10;  &lt;/Box&gt;&#10;  &lt;Box style={{ width: '100%', height: 40, borderTop: '1px solid #D6DCE5', flexDirection: 'row', alignItems: 'center', justifyContent: 'flex-end', paddingRight: 40 }}&gt;&#10;    &lt;Text style={{ fontSize: 14, color: '#8B97A8' }}&gt;06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双引擎融合架构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001375" y="26670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BD0EF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>
                <a:solidFill>
                  <a:srgbClr val="BBD0EF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04800" y="2143125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架构总览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04800" y="2571750"/>
            <a:ext cx="3705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流量经特征提取后，并行送入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规则引擎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机器学习引擎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04800" y="3371850"/>
            <a:ext cx="3705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融合策略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：规则优先采信、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ML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兜底分类、异常分修正可疑连接。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04800" y="4171950"/>
            <a:ext cx="3705225" cy="857250"/>
          </a:xfrm>
          <a:prstGeom prst="roundRect">
            <a:avLst>
              <a:gd name="adj" fmla="val 888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57200" y="4324350"/>
            <a:ext cx="34004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该混合架构与工业界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 xml:space="preserve"> Snort / Suricata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规则主导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统计辅助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思路一致。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4276725" y="990600"/>
            <a:ext cx="7610475" cy="5181600"/>
          </a:xfrm>
          <a:prstGeom prst="roundRect">
            <a:avLst>
              <a:gd name="adj" fmla="val 1838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29225" y="1343025"/>
            <a:ext cx="5715000" cy="4476750"/>
          </a:xfrm>
          <a:prstGeom prst="rect">
            <a:avLst/>
          </a:prstGeom>
          <a:ln/>
        </p:spPr>
      </p:pic>
      <p:sp>
        <p:nvSpPr>
          <p:cNvPr id="150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xmlns:a16="http://schemas.microsoft.com/office/drawing/2014/main" xmlns:mc="http://schemas.openxmlformats.org/markup-compatibility/2006" mc:Ignorable="a16">
  <p:cSld>
    <p:spTree>
      <p:nvGrpSpPr>
        <p:cNvPr id="152" name="" descr="&lt;Slide style={{ background: '#FFFFFF', padding: 0, flexDirection: 'column' }}&gt;&#10;  &lt;Box style={{ width: '100%', height: 72, background: '#1E4FA8', flexDirection: 'row', alignItems: 'center', justifyContent: 'space-between', paddingLeft: 40, paddingRight: 40 }}&gt;&#10;    &lt;Text style={{ fontSize: 24, fontWeight: 'bold', color: '#FFFFFF' }}&gt;特征工程与数据集&lt;/Text&gt;&#10;    &lt;Text style={{ fontSize: 14, color: '#BBD0EF' }}&gt;02 · 系统设计&lt;/Text&gt;&#10;  &lt;/Box&gt;&#10;  &lt;Box style={{ flex: 1, flexDirection: 'row', padding: 32, gap: 28 }}&gt;&#10;    &lt;Box style={{ width: '46%', flexDirection: 'column' }}&gt;&#10;      &lt;Text style={{ fontSize: 18, fontWeight: 'bold', color: '#1A2230', marginBottom: 10 }}&gt;特征重要性（随机森林）&lt;/Text&gt;&#10;      &lt;Chart&#10;        style={{ width: '100%', height: 320 }}&#10;        chartType='barChart'&#10;        barDirection='bar'&#10;        title=''&#10;        showLegend={false}&#10;        showDataLabels={true}&#10;        dataLabelColor='#1A2230'&#10;        axisColor='#8B97A8'&#10;        colors={['#1E4FA8']}&#10;        data={[&#10;          ['特征', '重要性'],&#10;          ['src_bytes', 0.28],&#10;          ['failed_logins', 0.16],&#10;          ['packet_count', 0.14],&#10;          ['num_unique_ports', 0.11],&#10;          ['dst_bytes', 0.09],&#10;          ['duration', 0.04],&#10;          ['bytes_per_packet', 0.03],&#10;          ['syn_rate', 0.01],&#10;          ['protocol_type', 0.00],&#10;        ]}&#10;      /&gt;&#10;      &lt;Box style={{ background: '#E8EFF8', borderRadius: 8, padding: 16, marginTop: 12 }}&gt;&#10;        &lt;Text style={{ fontSize: 15, color: '#0E3F8C', lineHeight: 1.6 }}&gt;&#10;          前三特征（字节量、失败登录、包数）与攻击机理一致，证明特征设计有效。&#10;        &lt;/Text&gt;&#10;      &lt;/Box&gt;&#10;    &lt;/Box&gt;&#10;    &lt;Box style={{ flex: 1, flexDirection: 'column' }}&gt;&#10;      &lt;Text style={{ fontSize: 18, fontWeight: 'bold', color: '#1A2230', marginBottom: 10 }}&gt;9 维连接级特征（参考 NSL-KDD 范式）&lt;/Text&gt;&#10;      &lt;Table&#10;        style={{ width: '100%', height: 430 }}&#10;        defaultTextStyle={{ fontSize: 13, textAlign: 'left', color: '#1A2230' }}&#10;        defaultCellStyle={{ border: { left: { width: 1, color: '#D6DCE5' }, right: { width: 1, color: '#D6DCE5' }, top: { width: 1, color: '#D6DCE5' }, bottom: { width: 1, color: '#D6DCE5' } }, padding: 8 }}&#10;        cells={[&#10;          [{ text: '特征', textStyle: { bold: true, color: '#fff' }, cellStyle: { background: { color: '#1E4FA8' } } }, { text: '含义', textStyle: { bold: true, color: '#fff' }, cellStyle: { background: { color: '#1E4FA8' } } }],&#10;          ['duration', '连接持续时间'],&#10;          [{ text: 'src/dst_bytes', cellStyle: { background: { color: '#F7F9FC' } } }, { text: '双向字节数', cellStyle: { background: { color: '#F7F9FC' } } }],&#10;          ['packet_count', '包总数'],&#10;          [{ text: 'failed_logins', cellStyle: { background: { color: '#F7F9FC' } } }, { text: '失败登录次数', cellStyle: { background: { color: '#F7F9FC' } } }],&#10;          ['num_unique_ports', '访问的不同端口数'],&#10;          [{ text: 'syn_rate', cellStyle: { background: { color: '#F7F9FC' } } }, { text: 'SYN 包占比', cellStyle: { background: { color: '#F7F9FC' } } }],&#10;          ['bytes_per_packet', '平均每包字节'],&#10;          [{ text: 'protocol_type', cellStyle: { background: { color: '#F7F9FC' } } }, { text: '协议类型', cellStyle: { background: { color: '#F7F9FC' } } }],&#10;        ]}&#10;      /&gt;&#10;    &lt;/Box&gt;&#10;  &lt;/Box&gt;&#10;  &lt;Box style={{ width: '100%', height: 40, borderTop: '1px solid #D6DCE5', flexDirection: 'row', alignItems: 'center', justifyContent: 'flex-end', paddingRight: 40 }}&gt;&#10;    &lt;Text style={{ fontSize: 14, color: '#8B97A8' }}&gt;07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特征工程与数据集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001375" y="26670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BD0EF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>
                <a:solidFill>
                  <a:srgbClr val="BBD0EF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04800" y="990600"/>
            <a:ext cx="5324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特征重要性（随机森林）</a:t>
            </a:r>
            <a:endParaRPr/>
          </a:p>
        </p:txBody>
      </p:sp>
      <p:graphicFrame>
        <p:nvGraphicFramePr>
          <p:cNvPr id="158" name="158"/>
          <p:cNvGraphicFramePr/>
          <p:nvPr/>
        </p:nvGraphicFramePr>
        <p:xfrm rot="0" flipH="0" flipV="0">
          <a:off x="304800" y="1295400"/>
          <a:ext cx="5324475" cy="30480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59" name=""/>
          <p:cNvSpPr/>
          <p:nvPr/>
        </p:nvSpPr>
        <p:spPr>
          <a:xfrm rot="0" flipH="0" flipV="0">
            <a:off x="304800" y="4457700"/>
            <a:ext cx="5324475" cy="581025"/>
          </a:xfrm>
          <a:prstGeom prst="roundRect">
            <a:avLst>
              <a:gd name="adj" fmla="val 1311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57200" y="4610100"/>
            <a:ext cx="5019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前三特征（字节量、失败登录、包数）与攻击机理一致，证明特征设计有效。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895975" y="990600"/>
            <a:ext cx="5991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维连接级特征（参考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NSL-KDD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范式）</a:t>
            </a:r>
            <a:endParaRPr/>
          </a:p>
        </p:txBody>
      </p:sp>
      <p:graphicFrame>
        <p:nvGraphicFramePr>
          <p:cNvPr id="162" name=""/>
          <p:cNvGraphicFramePr/>
          <p:nvPr/>
        </p:nvGraphicFramePr>
        <p:xfrm rot="0" flipH="0" flipV="0">
          <a:off x="5895975" y="1295400"/>
          <a:ext cx="5991225" cy="4095750"/>
        </p:xfrm>
        <a:graphic>
          <a:graphicData uri="http://schemas.openxmlformats.org/drawingml/2006/table">
            <a:tbl>
              <a:tblGrid>
                <a:gridCol w="3145894">
                  <a:extLst>
                    <a:ext uri="{9D8B030D-6E8A-4147-A177-3AD203B41FA5}">
                      <a16:colId val="1"/>
                    </a:ext>
                  </a:extLst>
                </a:gridCol>
                <a:gridCol w="2845331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特征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duration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连接持续时间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src/dst_bytes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双向字节数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packet_count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包总数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failed_logins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失败登录次数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num_unique_ports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访问的不同端口数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syn_rate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SYN 包占比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bytes_per_packet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平均每包字节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5508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protocol_type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协议类型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163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65" name="" descr="&lt;Slide style={{ background: '#F7F9FC', padding: 0, flexDirection: 'row' }}&gt;&#10;  &lt;Box style={{ width: 420, height: '100%', background: '#0E3F8C', flexDirection: 'column', justifyContent: 'center', alignItems: 'center' }}&gt;&#10;    &lt;Text style={{ fontSize: 220, fontWeight: 'bold', color: '#FFFFFF', lineHeight: 1 }}&gt;03&lt;/Text&gt;&#10;  &lt;/Box&gt;&#10;  &lt;Box style={{ flex: 1, height: '100%', flexDirection: 'column', justifyContent: 'center', paddingLeft: 72, paddingRight: 60 }}&gt;&#10;    &lt;Text style={{ fontSize: 20, color: '#3D7BD9', letterSpacing: 4, marginBottom: 14 }}&gt;CHAPTER 03&lt;/Text&gt;&#10;    &lt;Text style={{ fontSize: 46, fontWeight: 'bold', color: '#1A2230', marginBottom: 36 }}&gt;实验与评估&lt;/Text&gt;&#10;    &lt;Box style={{ gap: 18 }}&gt;&#10;      &lt;Box style={{ flexDirection: 'row', alignItems: 'center', gap: 16 }}&gt;&#10;        &lt;Box style={{ width: 10, height: 10, background: '#1E4FA8', borderRadius: 2 }} /&gt;&#10;        &lt;Text style={{ fontSize: 20, color: '#4A5568' }}&gt;数据集：合成流量生成与边界样本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评估指标：准确率 / 精确率 / 召回率 / F1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误差分析：混淆矩阵与误判来源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0485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686300" y="2295525"/>
            <a:ext cx="693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686300" y="2657475"/>
            <a:ext cx="6934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1A2230"/>
                </a:solidFill>
                <a:latin typeface="Microsoft YaHei"/>
                <a:ea typeface="Microsoft YaHei"/>
              </a:rPr>
              <a:t>实验与评估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4686300" y="36004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933950" y="353377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数据集：合成流量生成与边界样本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686300" y="40005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933950" y="3933825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评估指标：准确率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精确率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召回率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F1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4686300" y="44005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933950" y="4333875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误差分析：混淆矩阵与误判来源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style={{ background: '#F7F9FC', padding: 0, flexDirection: 'column', justifyContent: 'center', alignItems: 'center' }}&gt;&#10;  &lt;Text style={{ fontSize: 20, color: '#3D7BD9', letterSpacing: 6, marginBottom: 8 }}&gt;EXPERIMENTAL RESULTS&lt;/Text&gt;&#10;  &lt;Text style={{ fontSize: 120, fontWeight: 'bold', color: '#0E3F8C', lineHeight: 1 }}&gt;99.10%&lt;/Text&gt;&#10;  &lt;Text style={{ fontSize: 22, color: '#4A5568', marginTop: 8, marginBottom: 36 }}&gt;测试集综合准确率（Accuracy）&lt;/Text&gt;&#10;  &lt;Box style={{ flexDirection: 'row', gap: 28, marginBottom: 34 }}&gt;&#10;    {[['Accuracy', '0.991'], ['Precision', '0.991'], ['Recall', '0.991'], ['F1-score', '0.991']].map((kpi, i) =&gt; (&#10;      &lt;Box key={i} style={{ width: 180, background: '#FFFFFF', borderRadius: 10, padding: 20, borderBottom: '4px solid #1E4FA8', alignItems: 'center' }}&gt;&#10;        &lt;Text style={{ fontSize: 40, fontWeight: 'bold', color: '#1E4FA8' }}&gt;{kpi[1]}&lt;/Text&gt;&#10;        &lt;Text style={{ fontSize: 16, color: '#8B97A8', marginTop: 6 }}&gt;{kpi[0]} (macro)&lt;/Text&gt;&#10;      &lt;/Box&gt;&#10;    ))}&#10;  &lt;/Box&gt;&#10;  &lt;Box style={{ background: '#E8EFF8', borderRadius: 8, padding: 16, flexDirection: 'row', alignItems: 'center', gap: 12 }}&gt;&#10;    &lt;Box style={{ width: 8, height: 8, background: '#1E4FA8', borderRadius: 4 }} /&gt;&#10;    &lt;Text style={{ fontSize: 16, color: '#0E3F8C' }}&gt;&#10;      1000 条测试样本；刻意注入 6% 类边界重叠样本，使指标真实可信而非&quot;数据过干净&quot;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391025" y="1285875"/>
            <a:ext cx="3419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3D7BD9"/>
                </a:solidFill>
                <a:latin typeface="Microsoft YaHei"/>
                <a:ea typeface="Microsoft YaHei"/>
              </a:rPr>
              <a:t>EXPERIMENTAL RESULTS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990975" y="1590675"/>
            <a:ext cx="421957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0E3F8C"/>
                </a:solidFill>
                <a:latin typeface="Microsoft YaHei"/>
                <a:ea typeface="Microsoft YaHei"/>
              </a:rPr>
              <a:t>99.10%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600575" y="30384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测试集综合准确率（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Accuracy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2266950" y="3638550"/>
            <a:ext cx="171450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2266950" y="3638550"/>
            <a:ext cx="1714500" cy="1123950"/>
          </a:xfrm>
          <a:custGeom>
            <a:pathLst>
              <a:path w="180" h="118">
                <a:moveTo>
                  <a:pt x="0" y="109"/>
                </a:moveTo>
                <a:cubicBezTo>
                  <a:pt x="0" y="112"/>
                  <a:pt x="3" y="114"/>
                  <a:pt x="6" y="114"/>
                </a:cubicBezTo>
                <a:lnTo>
                  <a:pt x="174" y="114"/>
                </a:lnTo>
                <a:cubicBezTo>
                  <a:pt x="177" y="114"/>
                  <a:pt x="179" y="112"/>
                  <a:pt x="180" y="109"/>
                </a:cubicBezTo>
                <a:cubicBezTo>
                  <a:pt x="179" y="114"/>
                  <a:pt x="175" y="118"/>
                  <a:pt x="170" y="118"/>
                </a:cubicBezTo>
                <a:lnTo>
                  <a:pt x="10" y="118"/>
                </a:lnTo>
                <a:cubicBezTo>
                  <a:pt x="5" y="118"/>
                  <a:pt x="0" y="114"/>
                  <a:pt x="0" y="108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2600325" y="3829050"/>
            <a:ext cx="1057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0.991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495550" y="4343400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Accuracy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(macro)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248150" y="3638550"/>
            <a:ext cx="171450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4248150" y="3638550"/>
            <a:ext cx="1714500" cy="1123950"/>
          </a:xfrm>
          <a:custGeom>
            <a:pathLst>
              <a:path w="180" h="118">
                <a:moveTo>
                  <a:pt x="0" y="109"/>
                </a:moveTo>
                <a:cubicBezTo>
                  <a:pt x="0" y="112"/>
                  <a:pt x="3" y="114"/>
                  <a:pt x="6" y="114"/>
                </a:cubicBezTo>
                <a:lnTo>
                  <a:pt x="174" y="114"/>
                </a:lnTo>
                <a:cubicBezTo>
                  <a:pt x="177" y="114"/>
                  <a:pt x="179" y="112"/>
                  <a:pt x="180" y="109"/>
                </a:cubicBezTo>
                <a:cubicBezTo>
                  <a:pt x="179" y="114"/>
                  <a:pt x="175" y="118"/>
                  <a:pt x="170" y="118"/>
                </a:cubicBezTo>
                <a:lnTo>
                  <a:pt x="10" y="118"/>
                </a:lnTo>
                <a:cubicBezTo>
                  <a:pt x="5" y="118"/>
                  <a:pt x="0" y="114"/>
                  <a:pt x="0" y="108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581525" y="3829050"/>
            <a:ext cx="1057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0.991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476750" y="4343400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Precision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(macro)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229350" y="3638550"/>
            <a:ext cx="171450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229350" y="3638550"/>
            <a:ext cx="1714500" cy="1123950"/>
          </a:xfrm>
          <a:custGeom>
            <a:pathLst>
              <a:path w="180" h="118">
                <a:moveTo>
                  <a:pt x="0" y="109"/>
                </a:moveTo>
                <a:cubicBezTo>
                  <a:pt x="0" y="112"/>
                  <a:pt x="3" y="114"/>
                  <a:pt x="6" y="114"/>
                </a:cubicBezTo>
                <a:lnTo>
                  <a:pt x="174" y="114"/>
                </a:lnTo>
                <a:cubicBezTo>
                  <a:pt x="177" y="114"/>
                  <a:pt x="179" y="112"/>
                  <a:pt x="180" y="109"/>
                </a:cubicBezTo>
                <a:cubicBezTo>
                  <a:pt x="179" y="114"/>
                  <a:pt x="175" y="118"/>
                  <a:pt x="170" y="118"/>
                </a:cubicBezTo>
                <a:lnTo>
                  <a:pt x="10" y="118"/>
                </a:lnTo>
                <a:cubicBezTo>
                  <a:pt x="5" y="118"/>
                  <a:pt x="0" y="114"/>
                  <a:pt x="0" y="108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562725" y="3829050"/>
            <a:ext cx="1057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0.991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572250" y="4343400"/>
            <a:ext cx="102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Recall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(macro)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8210550" y="3638550"/>
            <a:ext cx="171450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8210550" y="3638550"/>
            <a:ext cx="1714500" cy="1123950"/>
          </a:xfrm>
          <a:custGeom>
            <a:pathLst>
              <a:path w="180" h="118">
                <a:moveTo>
                  <a:pt x="0" y="109"/>
                </a:moveTo>
                <a:cubicBezTo>
                  <a:pt x="0" y="112"/>
                  <a:pt x="3" y="114"/>
                  <a:pt x="6" y="114"/>
                </a:cubicBezTo>
                <a:lnTo>
                  <a:pt x="174" y="114"/>
                </a:lnTo>
                <a:cubicBezTo>
                  <a:pt x="177" y="114"/>
                  <a:pt x="179" y="112"/>
                  <a:pt x="180" y="109"/>
                </a:cubicBezTo>
                <a:cubicBezTo>
                  <a:pt x="179" y="114"/>
                  <a:pt x="175" y="118"/>
                  <a:pt x="170" y="118"/>
                </a:cubicBezTo>
                <a:lnTo>
                  <a:pt x="10" y="118"/>
                </a:lnTo>
                <a:cubicBezTo>
                  <a:pt x="5" y="118"/>
                  <a:pt x="0" y="114"/>
                  <a:pt x="0" y="108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543925" y="3829050"/>
            <a:ext cx="1057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0.991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458200" y="4343400"/>
            <a:ext cx="1228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F1-score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(macro)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2981325" y="5086350"/>
            <a:ext cx="6229350" cy="495300"/>
          </a:xfrm>
          <a:prstGeom prst="roundRect">
            <a:avLst>
              <a:gd name="adj" fmla="val 1538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3133725" y="5295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324225" y="5238750"/>
            <a:ext cx="573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 xml:space="preserve">1000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条测试样本；刻意注入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 xml:space="preserve"> 6%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类边界重叠样本，使指标真实可信而非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数据过干净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7" name="" descr="&lt;Slide style={{ background: '#FFFFFF', padding: 0, flexDirection: 'column' }}&gt;&#10;  &lt;Box style={{ width: '100%', height: 72, background: '#1E4FA8', flexDirection: 'row', alignItems: 'center', justifyContent: 'space-between', paddingLeft: 40, paddingRight: 40 }}&gt;&#10;    &lt;Text style={{ fontSize: 24, fontWeight: 'bold', color: '#FFFFFF' }}&gt;混淆矩阵与误差分析&lt;/Text&gt;&#10;    &lt;Text style={{ fontSize: 14, color: '#BBD0EF' }}&gt;03 · 实验与评估&lt;/Text&gt;&#10;  &lt;/Box&gt;&#10;  &lt;Box style={{ flex: 1, flexDirection: 'row', padding: 32, gap: 32, alignItems: 'center' }}&gt;&#10;    &lt;Box style={{ width: '54%', flexDirection: 'column' }}&gt;&#10;      &lt;Text style={{ fontSize: 16, color: '#8B97A8', marginBottom: 10 }}&gt;混淆矩阵（行=真实，列=预测，每类 200 样本）&lt;/Text&gt;&#10;      &lt;Table&#10;        style={{ width: '100%', height: 380 }}&#10;        defaultTextStyle={{ fontSize: 12, textAlign: 'center', color: '#1A2230' }}&#10;        defaultCellStyle={{ border: { left: { width: 1, color: '#D6DCE5' }, right: { width: 1, color: '#D6DCE5' }, top: { width: 1, color: '#D6DCE5' }, bottom: { width: 1, color: '#D6DCE5' } }, padding: 7 }}&#10;        cells={[&#10;          [{ text: '', cellStyle: { background: { color: '#1E4FA8' } } }, { text: 'normal', textStyle: { color: '#fff', bold: true }, cellStyle: { background: { color: '#1E4FA8' } } }, { text: 'dos', textStyle: { color: '#fff', bold: true }, cellStyle: { background: { color: '#1E4FA8' } } }, { text: 'scan', textStyle: { color: '#fff', bold: true }, cellStyle: { background: { color: '#1E4FA8' } } }, { text: 'brute', textStyle: { color: '#fff', bold: true }, cellStyle: { background: { color: '#1E4FA8' } } }, { text: 'exfil', textStyle: { color: '#fff', bold: true }, cellStyle: { background: { color: '#1E4FA8' } } }],&#10;          [{ text: 'normal', textStyle: { bold: true, color: '#fff' }, cellStyle: { background: { color: '#1E4FA8' } } }, { text: '196', cellStyle: { background: { color: '#E8EFF8' } } }, { text: '1', cellStyle: { background: { color: '#FDECEC' } } }, { text: '0' }, { text: '3', cellStyle: { background: { color: '#FDECEC' } } }, { text: '0' }],&#10;          [{ text: 'dos', textStyle: { bold: true, color: '#fff' }, cellStyle: { background: { color: '#1E4FA8' } } }, { text: '2', cellStyle: { background: { color: '#FDECEC' } } }, { text: '198', cellStyle: { background: { color: '#E8EFF8' } } }, { text: '0' }, { text: '0' }, { text: '0' }],&#10;          [{ text: 'scan', textStyle: { bold: true, color: '#fff' }, cellStyle: { background: { color: '#1E4FA8' } } }, { text: '1', cellStyle: { background: { color: '#FDECEC' } } }, { text: '0' }, { text: '197', cellStyle: { background: { color: '#E8EFF8' } } }, { text: '1', cellStyle: { background: { color: '#FDECEC' } } }, { text: '1', cellStyle: { background: { color: '#FDECEC' } } }],&#10;          [{ text: 'brute', textStyle: { bold: true, color: '#fff' }, cellStyle: { background: { color: '#1E4FA8' } } }, { text: '0' }, { text: '0' }, { text: '0' }, { text: '200', cellStyle: { background: { color: '#E8EFF8' } } }, { text: '0' }],&#10;          [{ text: 'exfil', textStyle: { bold: true, color: '#fff' }, cellStyle: { background: { color: '#1E4FA8' } } }, { text: '0' }, { text: '0' }, { text: '0' }, { text: '0' }, { text: '200', cellStyle: { background: { color: '#E8EFF8' } } }],&#10;        ]}&#10;      /&gt;&#10;    &lt;/Box&gt;&#10;    &lt;Box style={{ flex: 1, flexDirection: 'column', gap: 12 }}&gt;&#10;      &lt;Text style={{ fontSize: 22, fontWeight: 'bold', color: '#0E3F8C', marginBottom: 2 }}&gt;误差来源分析&lt;/Text&gt;&#10;      &lt;Box style={{ background: '#F7F9FC', borderRadius: 8, padding: 16, borderLeft: '4px solid #D9534F' }}&gt;&#10;        &lt;Text style={{ fontSize: 16, color: '#4A5568', lineHeight: 1.7 }}&gt;&#10;          误判集中在 &lt;span style={{ fontWeight: 'bold', color: '#D9534F' }}&gt;normal ↔ port_scan&lt;/span&gt; 边界：低速扫描统计形态接近高频正常访问；单连接特征存在理论极限，需时间序列聚合缓解。&#10;        &lt;/Text&gt;&#10;      &lt;/Box&gt;&#10;    &lt;/Box&gt;&#10;  &lt;/Box&gt;&#10;  &lt;Box style={{ width: '100%', height: 40, borderTop: '1px solid #D6DCE5', flexDirection: 'row', alignItems: 'center', justifyContent: 'flex-end', paddingRight: 40 }}&gt;&#10;    &lt;Text style={{ fontSize: 14, color: '#8B97A8' }}&gt;10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05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混淆矩阵与误差分析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868025" y="2667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BD0E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>
                <a:solidFill>
                  <a:srgbClr val="BBD0EF"/>
                </a:solidFill>
                <a:latin typeface="Microsoft YaHei"/>
                <a:ea typeface="Microsoft YaHei"/>
              </a:rPr>
              <a:t>实验与评估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04800" y="1628775"/>
            <a:ext cx="6257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混淆矩阵（行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=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真实，列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=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预测，每类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200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样本）</a:t>
            </a:r>
            <a:endParaRPr/>
          </a:p>
        </p:txBody>
      </p:sp>
      <p:graphicFrame>
        <p:nvGraphicFramePr>
          <p:cNvPr id="23" name=""/>
          <p:cNvGraphicFramePr/>
          <p:nvPr/>
        </p:nvGraphicFramePr>
        <p:xfrm rot="0" flipH="0" flipV="0">
          <a:off x="304800" y="1914525"/>
          <a:ext cx="6257925" cy="3619500"/>
        </p:xfrm>
        <a:graphic>
          <a:graphicData uri="http://schemas.openxmlformats.org/drawingml/2006/table">
            <a:tbl>
              <a:tblGrid>
                <a:gridCol w="1322653">
                  <a:extLst>
                    <a:ext uri="{9D8B030D-6E8A-4147-A177-3AD203B41FA5}">
                      <a16:colId val="1"/>
                    </a:ext>
                  </a:extLst>
                </a:gridCol>
                <a:gridCol w="1322653">
                  <a:extLst>
                    <a:ext uri="{9D8B030D-6E8A-4147-A177-3AD203B41FA5}">
                      <a16:colId val="2"/>
                    </a:ext>
                  </a:extLst>
                </a:gridCol>
                <a:gridCol w="779773">
                  <a:extLst>
                    <a:ext uri="{9D8B030D-6E8A-4147-A177-3AD203B41FA5}">
                      <a16:colId val="3"/>
                    </a:ext>
                  </a:extLst>
                </a:gridCol>
                <a:gridCol w="903155">
                  <a:extLst>
                    <a:ext uri="{9D8B030D-6E8A-4147-A177-3AD203B41FA5}">
                      <a16:colId val="4"/>
                    </a:ext>
                  </a:extLst>
                </a:gridCol>
                <a:gridCol w="1051213">
                  <a:extLst>
                    <a:ext uri="{9D8B030D-6E8A-4147-A177-3AD203B41FA5}">
                      <a16:colId val="5"/>
                    </a:ext>
                  </a:extLst>
                </a:gridCol>
                <a:gridCol w="878478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normal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dos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scan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brute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exfil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normal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dos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198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scan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brute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exfil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67525" y="3076575"/>
            <a:ext cx="5019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误差来源分析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905625" y="3467100"/>
            <a:ext cx="5019675" cy="93345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6905625" y="3467100"/>
            <a:ext cx="5019675" cy="933450"/>
          </a:xfrm>
          <a:custGeom>
            <a:pathLst>
              <a:path w="527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058025" y="3619500"/>
            <a:ext cx="46767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误判集中在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normal ↔ port_scan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边界：低速扫描统计形态接近高频正常访问；单连接特征存在理论极限，需时间序列聚合缓解。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0" name="" descr="&lt;Slide style={{ background: '#F7F9FC', padding: 0, flexDirection: 'row' }}&gt;&#10;  &lt;Box style={{ width: 420, height: '100%', background: '#0E3F8C', flexDirection: 'column', justifyContent: 'center', alignItems: 'center' }}&gt;&#10;    &lt;Text style={{ fontSize: 220, fontWeight: 'bold', color: '#FFFFFF', lineHeight: 1 }}&gt;04&lt;/Text&gt;&#10;  &lt;/Box&gt;&#10;  &lt;Box style={{ flex: 1, height: '100%', flexDirection: 'column', justifyContent: 'center', paddingLeft: 72, paddingRight: 60 }}&gt;&#10;    &lt;Text style={{ fontSize: 20, color: '#3D7BD9', letterSpacing: 4, marginBottom: 14 }}&gt;CHAPTER 04&lt;/Text&gt;&#10;    &lt;Text style={{ fontSize: 46, fontWeight: 'bold', color: '#1A2230', marginBottom: 36 }}&gt;总结与展望&lt;/Text&gt;&#10;    &lt;Box style={{ gap: 18 }}&gt;&#10;      &lt;Box style={{ flexDirection: 'row', alignItems: 'center', gap: 16 }}&gt;&#10;        &lt;Box style={{ width: 10, height: 10, background: '#1E4FA8', borderRadius: 2 }} /&gt;&#10;        &lt;Text style={{ fontSize: 20, color: '#4A5568' }}&gt;主要结论：双引擎融合兼顾可解释性与覆盖率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当前不足：合成数据与真实分布、加密流量&lt;/Text&gt;&#10;      &lt;/Box&gt;&#10;      &lt;Box style={{ flexDirection: 'row', alignItems: 'center', gap: 16 }}&gt;&#10;        &lt;Box style={{ width: 10, height: 10, background: '#1E4FA8', borderRadius: 2 }} /&gt;&#10;        &lt;Text style={{ fontSize: 20, color: '#4A5568' }}&gt;改进方向：真实数据集、时序模型、PCAP 实时解析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0485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686300" y="2295525"/>
            <a:ext cx="693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686300" y="2657475"/>
            <a:ext cx="6934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1A2230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686300" y="36004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933950" y="353377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主要结论：双引擎融合兼顾可解释性与覆盖率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686300" y="40005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933950" y="393382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当前不足：合成数据与真实分布、加密流量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686300" y="44005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933950" y="4333875"/>
            <a:ext cx="4362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改进方向：真实数据集、时序模型、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PCAP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实时解析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style={{ background: '#FFFFFF', padding: 0, flexDirection: 'column' }}&gt;&#10;  &lt;Box style={{ width: '100%', height: 72, background: '#1E4FA8', flexDirection: 'row', alignItems: 'center', justifyContent: 'space-between', paddingLeft: 40, paddingRight: 40 }}&gt;&#10;    &lt;Text style={{ fontSize: 24, fontWeight: 'bold', color: '#FFFFFF' }}&gt;结论与展望&lt;/Text&gt;&#10;    &lt;Text style={{ fontSize: 14, color: '#BBD0EF' }}&gt;04 · 总结与展望&lt;/Text&gt;&#10;  &lt;/Box&gt;&#10;  &lt;Box style={{ flex: 1, flexDirection: 'row', padding: 32, gap: 28 }}&gt;&#10;    &lt;Box style={{ width: '32%', background: '#0E3F8C', borderRadius: 10, padding: 28, flexDirection: 'column', justifyContent: 'center' }}&gt;&#10;      &lt;Text style={{ fontSize: 22, fontWeight: 'bold', color: '#FFFFFF', marginBottom: 16 }}&gt;主要结论&lt;/Text&gt;&#10;      &lt;Text style={{ fontSize: 16, color: '#BBD0EF', lineHeight: 1.8 }}&gt;&#10;        双引擎融合在&lt;span style={{ color: '#FFFFFF', fontWeight: 'bold' }}&gt;可解释性&lt;/span&gt;与&lt;span style={{ color: '#FFFFFF', fontWeight: 'bold' }}&gt;未知攻击覆盖率&lt;/span&gt;之间取得平衡；规则引擎负责已知模式，机器学习负责异常发现，融合策略统一输出。&#10;      &lt;/Text&gt;&#10;    &lt;/Box&gt;&#10;    &lt;Box style={{ flex: 1, flexDirection: 'column', gap: 18, justifyContent: 'center' }}&gt;&#10;      &lt;Text style={{ fontSize: 20, fontWeight: 'bold', color: '#D9534F', marginBottom: 2 }}&gt;当前不足&lt;/Text&gt;&#10;      &lt;Box style={{ background: '#FDECEC', borderRadius: 8, padding: 16 }}&gt;&#10;        &lt;Text style={{ fontSize: 16, color: '#4A5568', lineHeight: 1.6 }}&gt;合成数据与真实流量分布存在差距；未覆盖加密流量（TLS 元数据分析）。&lt;/Text&gt;&#10;      &lt;/Box&gt;&#10;      &lt;Text style={{ fontSize: 20, fontWeight: 'bold', color: '#0E3F8C', marginBottom: 2 }}&gt;改进方向&lt;/Text&gt;&#10;      &lt;Box style={{ background: '#E8EFF8', borderRadius: 8, padding: 16 }}&gt;&#10;        &lt;Text style={{ fontSize: 16, color: '#4A5568', lineHeight: 1.6 }}&gt;接入 NSL-KDD / CICIDS-2017 真实数据集；增加时序模型（LSTM / AutoEncoder）对比；支持 PCAP 文件实时解析。&lt;/Text&gt;&#10;      &lt;/Box&gt;&#10;    &lt;/Box&gt;&#10;  &lt;/Box&gt;&#10;  &lt;Box style={{ width: '100%', height: 40, borderTop: '1px solid #D6DCE5', flexDirection: 'row', alignItems: 'center', justifyContent: 'flex-end', paddingRight: 40 }}&gt;&#10;    &lt;Text style={{ fontSize: 14, color: '#8B97A8' }}&gt;12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结论与展望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0868025" y="2667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BD0EF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>
                <a:solidFill>
                  <a:srgbClr val="BBD0EF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04800" y="990600"/>
            <a:ext cx="3705225" cy="5181600"/>
          </a:xfrm>
          <a:prstGeom prst="roundRect">
            <a:avLst>
              <a:gd name="adj" fmla="val 257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71500" y="2886075"/>
            <a:ext cx="3171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主要结论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71500" y="3295650"/>
            <a:ext cx="31718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BBD0EF"/>
                </a:solidFill>
                <a:latin typeface="Microsoft YaHei"/>
                <a:ea typeface="Microsoft YaHei"/>
              </a:rPr>
              <a:t>双引擎融合在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可解释性</a:t>
            </a:r>
            <a:r>
              <a:rPr lang="zh-CN" sz="1200">
                <a:solidFill>
                  <a:srgbClr val="BBD0EF"/>
                </a:solidFill>
                <a:latin typeface="Microsoft YaHei"/>
                <a:ea typeface="Microsoft YaHei"/>
              </a:rPr>
              <a:t>与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未知攻击覆盖率</a:t>
            </a:r>
            <a:r>
              <a:rPr lang="zh-CN" sz="1200">
                <a:solidFill>
                  <a:srgbClr val="BBD0EF"/>
                </a:solidFill>
                <a:latin typeface="Microsoft YaHei"/>
                <a:ea typeface="Microsoft YaHei"/>
              </a:rPr>
              <a:t>之间取得平衡；规则引擎负责已知模式，机器学习负责异常发现，融合策略统一输出。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276725" y="2333625"/>
            <a:ext cx="7610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当前不足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276725" y="2752725"/>
            <a:ext cx="7610475" cy="600075"/>
          </a:xfrm>
          <a:prstGeom prst="roundRect">
            <a:avLst>
              <a:gd name="adj" fmla="val 12698"/>
            </a:avLst>
          </a:prstGeom>
          <a:solidFill>
            <a:srgbClr val="FDECE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429125" y="2905125"/>
            <a:ext cx="73056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合成数据与真实流量分布存在差距；未覆盖加密流量（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TLS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元数据分析）。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276725" y="3524250"/>
            <a:ext cx="7610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改进方向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276725" y="3943350"/>
            <a:ext cx="7610475" cy="895350"/>
          </a:xfrm>
          <a:prstGeom prst="roundRect">
            <a:avLst>
              <a:gd name="adj" fmla="val 851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429125" y="4095750"/>
            <a:ext cx="7305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接入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NSL-KDD / CICIDS-2017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真实数据集；增加时序模型（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LSTM / AutoEncoder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）对比；支持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PCAP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文件实时解析。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background: '#0E3F8C', padding: 0, flexDirection: 'column', justifyContent: 'center', alignItems: 'center' }}&gt;&#10;  &lt;Box style={{ width: '100%', height: 10, background: '#3D7BD9' }} /&gt;&#10;  &lt;Box style={{ flex: 1, flexDirection: 'column', justifyContent: 'center', alignItems: 'center' }}&gt;&#10;    &lt;Text style={{ fontSize: 64, fontWeight: 'bold', color: '#FFFFFF', marginBottom: 20 }}&gt;恳请各位老师批评指正&lt;/Text&gt;&#10;    &lt;Text style={{ fontSize: 22, color: '#BBD0EF', marginBottom: 48 }}&gt;&#10;      基于双引擎融合的网络入侵检测系统 · 考研复试答辩&#10;    &lt;/Text&gt;&#10;    &lt;Box style={{ flexDirection: 'row', gap: 14 }}&gt;&#10;      &lt;Box style={{ background: 'rgba(255,255,255,0.12)', borderRadius: 4, paddingLeft: 18, paddingRight: 18, paddingTop: 8, paddingBottom: 8 }}&gt;&#10;        &lt;Text style={{ fontSize: 15, color: '#FFFFFF' }}&gt;感谢聆听&lt;/Text&gt;&#10;      &lt;/Box&gt;&#10;      &lt;Box style={{ background: 'rgba(255,255,255,0.12)', borderRadius: 4, paddingLeft: 18, paddingRight: 18, paddingTop: 8, paddingBottom: 8 }}&gt;&#10;        &lt;Text style={{ fontSize: 15, color: '#FFFFFF' }}&gt;敬请提问&lt;/Text&gt;&#10;      &lt;/Box&gt;&#10;    &lt;/Box&gt;&#10;  &lt;/Box&gt;&#10;  &lt;Box style={{ width: '100%', height: 60, borderTop: '1px solid rgba(255,255,255,0.2)', flexDirection: 'row', alignItems: 'center', justifyContent: 'space-between', paddingLeft: 80, paddingRight: 80 }}&gt;&#10;    &lt;Text style={{ fontSize: 15, color: '#9CC0F0' }}&gt;汇报人：XXX&lt;/Text&gt;&#10;    &lt;Text style={{ fontSize: 15, color: '#9CC0F0' }}&gt;2026 年 3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048000" y="2209800"/>
            <a:ext cx="6096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恳请各位老师批评指正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705225" y="3133725"/>
            <a:ext cx="4791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BBD0EF"/>
                </a:solidFill>
                <a:latin typeface="Microsoft YaHei"/>
                <a:ea typeface="Microsoft YaHei"/>
              </a:rPr>
              <a:t>基于双引擎融合的网络入侵检测系统</a:t>
            </a:r>
            <a:r>
              <a:rPr lang="en-US" sz="1650">
                <a:solidFill>
                  <a:srgbClr val="BBD0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BBD0EF"/>
                </a:solidFill>
                <a:latin typeface="Microsoft YaHei"/>
                <a:ea typeface="Microsoft YaHei"/>
              </a:rPr>
              <a:t>考研复试答辩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114925" y="3848100"/>
            <a:ext cx="914400" cy="323850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286375" y="39243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162675" y="3848100"/>
            <a:ext cx="914400" cy="323850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334125" y="39243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敬请提问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62000" y="64960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C0F0"/>
                </a:solidFill>
                <a:latin typeface="Microsoft YaHei"/>
                <a:ea typeface="Microsoft YaHei"/>
              </a:rPr>
              <a:t>汇报人：</a:t>
            </a:r>
            <a:r>
              <a:rPr lang="en-US" sz="1125">
                <a:solidFill>
                  <a:srgbClr val="9CC0F0"/>
                </a:solidFill>
                <a:latin typeface="Microsoft YaHei"/>
                <a:ea typeface="Microsoft YaHei"/>
              </a:rPr>
              <a:t>XXX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591800" y="649605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C0F0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9CC0F0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9CC0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9CC0F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2026-10-19T17:06:09Z</dcterms:created>
  <dcterms:modified xsi:type="dcterms:W3CDTF">2026-10-19T17:06:09Z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{"AIGC":{"Label":"1","ContentProducer":"00119111010856365494821B355","ProduceID":"01a15351bc577985b17e8511cc2cc083","ReservedCode1":"","ContentPropagator":"00119111010856365494821B355","PropagateID":"01a15351bc577985b17e8511cc2cc083","ReservedCode2":""}}</vt:lpwstr>
  </property>
</Properties>
</file>